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bd4366e-2630-cbcd-66aa-3a629f80b224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Bloco 1 · Configuração" id="{5da5a86d-00a4-082b-aaca-9581b309e640}">
          <p14:sldIdLst>
            <p14:sldId id="262"/>
            <p14:sldId id="263"/>
            <p14:sldId id="264"/>
            <p14:sldId id="265"/>
            <p14:sldId id="266"/>
          </p14:sldIdLst>
        </p14:section>
        <p14:section name="Bloco 2 · O dia-a-dia" id="{eb887bb4-a0ec-68b2-479a-2fac6313cc7e}">
          <p14:sldIdLst>
            <p14:sldId id="267"/>
            <p14:sldId id="268"/>
          </p14:sldIdLst>
        </p14:section>
        <p14:section name="Fecho" id="{0eda15e6-aed2-b0d1-63fd-9757bac95945}">
          <p14:sldIdLst>
            <p14:sldId id="269"/>
            <p14:sldId id="270"/>
            <p14:sldId id="271"/>
          </p14:sldIdLst>
        </p14:section>
        <p14:section name="Anexo" id="{54a2bba8-b85c-836f-3a56-c4b145f2eddf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(2 min). Apresentar o formato: sessão prática, cada um no seu computador, com dados de teste. Dizer logo que hoje se começa pela configuração porque é a base de tudo o resto, e que no fim a equipa repete sozinha um ciclo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resultados concretos. Voltar a este slide no fim da sessão e perguntar: conseguimos? Se a sala disser que sim ao caso prático final, a sessão cumpriu.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argumento central. Cada linha é uma dependência real do sistema: as marcações são validadas contra o horário da clínica; o preço da fatura vem do serviço escolhido; o perfil decide que páginas cada pessoa vê; a disponibilidade de cada profissional define os horários livres; o NIF é o emitente de todos os documentos fiscais. Se a configuração estiver errada, os erros aparecem mais tarde, no dia-a-dia, e ninguém sabe porquê.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ritmo: mostrar, fazer, rever. Não avançar para o tópico seguinte enquanto alguém ficar para trás. Pedir a quem acabar primeiro que ajude o colega ao lado. Reforçar a regra dos dados de teste: nada de pacientes reais no ambiente de formação.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blocos grandes (a verde) são o coração da sessão. Se o tempo apertar: cortar do Bloco 2, nunca do Bloco 1, e empurrar o caso prático para o início da Sessão 2. Se sobrar tempo: mostrar a página Perfis com mais calma.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a Administração configura no dia-a-dia, por isso os restantes assistem aos passos 1 a 4, mas precisam de os ver para perceber de onde vêm os horários e os preços. Todos fazem a sua própria palavra-passe. No Bloco 2 cada perfil pratica a sua parte. Risco a gerir: quem só assiste perde atenção. Para isso, fazer perguntas diretas e deixar a Recepção tentar o passo 3 no ecrã do formador.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ordem não é aleatória: dados da clínica e horário primeiro; depois os serviços e preços, que alimentam marcações e faturas; depois quem pode entrar e com que perfil; depois a disponibilidade de cada profissional, que só faz sentido quando os utilizadores já existem; por fim, cada pessoa define a sua própria palavra-passe. Em cada passo: mostrar, fazer, 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primeiro Configurações → Clínica: preencher o NIF com cuidado, porque o sistema nunca o pré-preenche (é o emitente de todos os documentos fiscais). Depois o horário por dia da semana. Em Parametrizações, o mais importante é a Gestão de Serviços: nome, duração e preço de cada serviço. Para isto funcionar bem, pedir ao CAP a lista de serviços com duração e preço ANTES da sessão. As restantes listas (funções, especialidades, tipos de consulta, planos, seguradoras, etiquetas) já vêm com valores de partida e podem ser ajustadas.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Começar pelo separador Perfis para mostrar o que cada perfil vê; depois ir a Utilizadores e criar uma pessoa ao vivo. O administrador escolhe a palavra-passe; o botão Gerar cria uma forte, que se pode copiar. Não há convite por email nem troca forçada no primeiro login, por isso combinar com a equipa como a palavra-passe é entregue e incentivar cada pessoa a mudá-la em Configurações → Segurança (passo 5). Aviso: o separador Organização serve para as empresas clientes dos planos de saúde, não para a equipa do CAP. Os perfis aqui são os valores de partida; confirmar com o CAP se o seu pessoal clínico (psicólogos) fica no perfil Médico/a.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o modelo semanal de um profissional no Calendário de Disponibilidade. Depois criar um turno para um dia específico: o turno substitui o modelo semanal nesse dia (não se soma). O teste ao vivo é o momento em que a sala percebe a ligação entre configuração e dia-a-dia: abrir Agendamentos, tentar marcar e mostrar que só aparecem os horários definidos. Isto prepara o Bloco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único paciente de teste percorre as cinco etapas, uma a uma, com a sala a repetir cada passo. 1) Pacientes CRM: pesquisar antes de criar, para evitar duplicados; registar com etiquetas. 2) Agendamentos: escolher paciente e serviço, ver os horários livres que resultam da configuração do Bloco 1. 3) Registos Clínicos: check-in, notas e concluir a consulta. 4) A fatura é gerada ao concluir a consulta, com o preço do serviço configurado; se falhar, há um botão para a gerar de novo. 5) Pagamento: registar o pagamento e ver o saldo em aberto. Mostrar também um pagamento parcial.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exercício percorre a cadeia inteira: configuração (utilizador, disponibilidade) e dia-a-dia (paciente, marcação, consulta, fatura, pagamento). Circular entre os pares sem resolver por eles; anotar os pontos onde mais pessoas ficam presas, porque são o conteúdo da Sessão 2. Se alguém marcar fora do horário ou sem disponibilidade, é uma boa oportunidade para voltar ao Bloco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Gerir expectativas com honestidade. Planos de Saúde e Financeiro completo são continuação natural da Sessão 1. WhatsApp Hub precisa do processo da Meta (conta empresarial, modelos aprovados) e de um endereço público com HTTPS. A fatura eletrónica depende das credenciais, do certificado digital e da validação junto da DNRE: não prometer data. Exames e Visitas Domiciliárias ainda não existem no sistema; se o CAP perguntar, dizer que estão previstos mas por construir.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voltando ao slide de objetivos. Recolher as dúvidas que ficaram e combinar a data da Sessão 2. Pedir à Administração que, entretanto, repita o caso prático com dados de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do formador, não se mostra à sala. Sem os dados reais do CAP (NIF, horário, serviços e preços, equipa) o Bloco 1 vira um exercício com dados inventados e a equipa sai sem a configuração feita. Garantir que o ambiente de formação não usa o atalho de login de desenvolvimento, para que cada perfil mostre o que realmente vê. Confirmar o ambiente com antecedência: o deploy de staging/produção ainda não foi validado de ponta a ponta.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5303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53035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CAP 360 · Formação · Sessão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CAP — Centro de Atendimento Psicológico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3716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Formação CAP 360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1089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Sessão 1 · Configurar para começar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Workshop prático · 4 horas</a:t>
            </a:r>
            <a:endParaRPr lang="en-US" sz="1800" dirty="0"/>
          </a:p>
        </p:txBody>
      </p:sp>
      <p:sp>
        <p:nvSpPr>
          <p:cNvPr id="5" name="Decor circle large"/>
          <p:cNvSpPr/>
          <p:nvPr/>
        </p:nvSpPr>
        <p:spPr>
          <a:xfrm>
            <a:off x="5852160" y="822960"/>
            <a:ext cx="2834640" cy="2834640"/>
          </a:xfrm>
          <a:prstGeom prst="ellipse">
            <a:avLst/>
          </a:prstGeom>
          <a:solidFill>
            <a:schemeClr val="accent1">
              <a:alpha val="80000"/>
            </a:schemeClr>
          </a:solidFill>
          <a:ln/>
        </p:spPr>
      </p:sp>
      <p:pic>
        <p:nvPicPr>
          <p:cNvPr id="6" name="Image 0" descr="Ícone de clín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783080"/>
            <a:ext cx="914400" cy="914400"/>
          </a:xfrm>
          <a:prstGeom prst="rect">
            <a:avLst/>
          </a:prstGeom>
        </p:spPr>
      </p:pic>
      <p:sp>
        <p:nvSpPr>
          <p:cNvPr id="7" name="Decor circle small"/>
          <p:cNvSpPr/>
          <p:nvPr/>
        </p:nvSpPr>
        <p:spPr>
          <a:xfrm>
            <a:off x="5486400" y="324612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Ícone de batime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5204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Objetivo da sessão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No fim das 4 horas, a equipa do CAP consegue:</a:t>
            </a:r>
            <a:endParaRPr lang="en-US" sz="1600" dirty="0"/>
          </a:p>
        </p:txBody>
      </p:sp>
      <p:sp>
        <p:nvSpPr>
          <p:cNvPr id="4" name="Card objetivo 1"/>
          <p:cNvSpPr/>
          <p:nvPr/>
        </p:nvSpPr>
        <p:spPr>
          <a:xfrm>
            <a:off x="457200" y="17373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5" name="Ícone Configurar"/>
          <p:cNvSpPr/>
          <p:nvPr/>
        </p:nvSpPr>
        <p:spPr>
          <a:xfrm>
            <a:off x="731520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Ícone Configur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Configurar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832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Clínica, serviços, preços e horário prontos a usar</a:t>
            </a:r>
            <a:endParaRPr lang="en-US" sz="1400" dirty="0"/>
          </a:p>
        </p:txBody>
      </p:sp>
      <p:sp>
        <p:nvSpPr>
          <p:cNvPr id="9" name="Card objetivo 2"/>
          <p:cNvSpPr/>
          <p:nvPr/>
        </p:nvSpPr>
        <p:spPr>
          <a:xfrm>
            <a:off x="3291840" y="17373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0" name="Ícone Dar acesso"/>
          <p:cNvSpPr/>
          <p:nvPr/>
        </p:nvSpPr>
        <p:spPr>
          <a:xfrm>
            <a:off x="3566160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Ícone Dar aces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194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Dar acesso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3832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colaborador com a sua conta e o perfil certo</a:t>
            </a:r>
            <a:endParaRPr lang="en-US" sz="1400" dirty="0"/>
          </a:p>
        </p:txBody>
      </p:sp>
      <p:sp>
        <p:nvSpPr>
          <p:cNvPr id="14" name="Card objetivo 3"/>
          <p:cNvSpPr/>
          <p:nvPr/>
        </p:nvSpPr>
        <p:spPr>
          <a:xfrm>
            <a:off x="6126480" y="17373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5" name="Ícone Percorrer o ciclo"/>
          <p:cNvSpPr/>
          <p:nvPr/>
        </p:nvSpPr>
        <p:spPr>
          <a:xfrm>
            <a:off x="6400800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Ícone Percorrer o cicl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194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Percorrer o ciclo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3832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Paciente, marcação, consulta e fatura, de ponta a ponta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Porque começar pela configuração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Configurar primeiro…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…desbloqueia isto</a:t>
            </a:r>
            <a:endParaRPr lang="en-US" sz="1200" dirty="0"/>
          </a:p>
        </p:txBody>
      </p:sp>
      <p:sp>
        <p:nvSpPr>
          <p:cNvPr id="5" name="Configuração 1"/>
          <p:cNvSpPr/>
          <p:nvPr/>
        </p:nvSpPr>
        <p:spPr>
          <a:xfrm>
            <a:off x="457200" y="1508760"/>
            <a:ext cx="3383280" cy="512064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Horário de funcionamento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23360" y="1636776"/>
            <a:ext cx="411480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8" name="Efeito 1"/>
          <p:cNvSpPr/>
          <p:nvPr/>
        </p:nvSpPr>
        <p:spPr>
          <a:xfrm>
            <a:off x="4572000" y="1508760"/>
            <a:ext cx="4114800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150876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Só aceita marcações dentro do horário</a:t>
            </a:r>
            <a:endParaRPr lang="en-US" sz="1400" dirty="0"/>
          </a:p>
        </p:txBody>
      </p:sp>
      <p:sp>
        <p:nvSpPr>
          <p:cNvPr id="10" name="Configuração 2"/>
          <p:cNvSpPr/>
          <p:nvPr/>
        </p:nvSpPr>
        <p:spPr>
          <a:xfrm>
            <a:off x="457200" y="2112264"/>
            <a:ext cx="3383280" cy="512064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11226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Serviços e preços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23360" y="2240280"/>
            <a:ext cx="411480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3" name="Efeito 2"/>
          <p:cNvSpPr/>
          <p:nvPr/>
        </p:nvSpPr>
        <p:spPr>
          <a:xfrm>
            <a:off x="4572000" y="2112264"/>
            <a:ext cx="4114800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211226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Preço automático em cada fatura</a:t>
            </a:r>
            <a:endParaRPr lang="en-US" sz="1400" dirty="0"/>
          </a:p>
        </p:txBody>
      </p:sp>
      <p:sp>
        <p:nvSpPr>
          <p:cNvPr id="15" name="Configuração 3"/>
          <p:cNvSpPr/>
          <p:nvPr/>
        </p:nvSpPr>
        <p:spPr>
          <a:xfrm>
            <a:off x="457200" y="2715768"/>
            <a:ext cx="3383280" cy="512064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71576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Utilizadores e perfis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023360" y="2843784"/>
            <a:ext cx="411480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8" name="Efeito 3"/>
          <p:cNvSpPr/>
          <p:nvPr/>
        </p:nvSpPr>
        <p:spPr>
          <a:xfrm>
            <a:off x="4572000" y="2715768"/>
            <a:ext cx="4114800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54880" y="27157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pessoa vê só o que lhe cabe</a:t>
            </a:r>
            <a:endParaRPr lang="en-US" sz="1400" dirty="0"/>
          </a:p>
        </p:txBody>
      </p:sp>
      <p:sp>
        <p:nvSpPr>
          <p:cNvPr id="20" name="Configuração 4"/>
          <p:cNvSpPr/>
          <p:nvPr/>
        </p:nvSpPr>
        <p:spPr>
          <a:xfrm>
            <a:off x="457200" y="3319272"/>
            <a:ext cx="3383280" cy="512064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31927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Disponibilidade da equipa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023360" y="3447288"/>
            <a:ext cx="411480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3" name="Efeito 4"/>
          <p:cNvSpPr/>
          <p:nvPr/>
        </p:nvSpPr>
        <p:spPr>
          <a:xfrm>
            <a:off x="4572000" y="3319272"/>
            <a:ext cx="4114800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54880" y="331927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Mostra apenas horários livres</a:t>
            </a:r>
            <a:endParaRPr lang="en-US" sz="1400" dirty="0"/>
          </a:p>
        </p:txBody>
      </p:sp>
      <p:sp>
        <p:nvSpPr>
          <p:cNvPr id="25" name="Configuração 5"/>
          <p:cNvSpPr/>
          <p:nvPr/>
        </p:nvSpPr>
        <p:spPr>
          <a:xfrm>
            <a:off x="457200" y="3922776"/>
            <a:ext cx="3383280" cy="512064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39227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NIF e dados da clínica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023360" y="4050792"/>
            <a:ext cx="411480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8" name="Efeito 5"/>
          <p:cNvSpPr/>
          <p:nvPr/>
        </p:nvSpPr>
        <p:spPr>
          <a:xfrm>
            <a:off x="4572000" y="3922776"/>
            <a:ext cx="4114800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392277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Identifica a clínica nas faturas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Como vai decorrer</a:t>
            </a:r>
            <a:endParaRPr lang="en-US" sz="3400" dirty="0"/>
          </a:p>
        </p:txBody>
      </p:sp>
      <p:sp>
        <p:nvSpPr>
          <p:cNvPr id="3" name="Card passo 1"/>
          <p:cNvSpPr/>
          <p:nvPr/>
        </p:nvSpPr>
        <p:spPr>
          <a:xfrm>
            <a:off x="457200" y="1325880"/>
            <a:ext cx="256032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4" name="Número 1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54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Mostrar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formador demonstra no ecrã, 5 a 10 minutos por tópico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63240" y="2148840"/>
            <a:ext cx="182880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Card passo 2"/>
          <p:cNvSpPr/>
          <p:nvPr/>
        </p:nvSpPr>
        <p:spPr>
          <a:xfrm>
            <a:off x="3291840" y="1325880"/>
            <a:ext cx="256032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0" name="Número 2"/>
          <p:cNvSpPr/>
          <p:nvPr/>
        </p:nvSpPr>
        <p:spPr>
          <a:xfrm>
            <a:off x="356616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1554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Fazer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240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pessoa repete no seu computador, 10 a 15 minutos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97880" y="2148840"/>
            <a:ext cx="182880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5" name="Card passo 3"/>
          <p:cNvSpPr/>
          <p:nvPr/>
        </p:nvSpPr>
        <p:spPr>
          <a:xfrm>
            <a:off x="6126480" y="1325880"/>
            <a:ext cx="256032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6" name="Número 3"/>
          <p:cNvSpPr/>
          <p:nvPr/>
        </p:nvSpPr>
        <p:spPr>
          <a:xfrm>
            <a:off x="640080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1554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Rever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240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Dúvidas e erros comuns, 5 minutos antes do tópico seguinte</a:t>
            </a:r>
            <a:endParaRPr lang="en-US" sz="1400" dirty="0"/>
          </a:p>
        </p:txBody>
      </p:sp>
      <p:sp>
        <p:nvSpPr>
          <p:cNvPr id="20" name="Regra de ouro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/>
        </p:spPr>
      </p:sp>
      <p:sp>
        <p:nvSpPr>
          <p:cNvPr id="21" name="Ícone aviso"/>
          <p:cNvSpPr/>
          <p:nvPr/>
        </p:nvSpPr>
        <p:spPr>
          <a:xfrm>
            <a:off x="685800" y="376732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0" descr="Ícone avi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04488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463040" y="36118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Regra de ouro: todos praticam em dados de teste, nunca com dados reais de pacientes.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Agenda · 4 horas</a:t>
            </a:r>
            <a:endParaRPr lang="en-US" sz="3400" dirty="0"/>
          </a:p>
        </p:txBody>
      </p:sp>
      <p:sp>
        <p:nvSpPr>
          <p:cNvPr id="3" name="Linha agenda 1"/>
          <p:cNvSpPr/>
          <p:nvPr/>
        </p:nvSpPr>
        <p:spPr>
          <a:xfrm>
            <a:off x="457200" y="1188720"/>
            <a:ext cx="8229600" cy="493776"/>
          </a:xfrm>
          <a:prstGeom prst="roundRect">
            <a:avLst>
              <a:gd name="adj" fmla="val 1851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0:00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18872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Abertura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251960" y="1188720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que serve · como vamos trabalhar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0" y="1289304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0" y="128930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15 min</a:t>
            </a:r>
            <a:endParaRPr lang="en-US" sz="1200" dirty="0"/>
          </a:p>
        </p:txBody>
      </p:sp>
      <p:sp>
        <p:nvSpPr>
          <p:cNvPr id="9" name="Linha agenda 2"/>
          <p:cNvSpPr/>
          <p:nvPr/>
        </p:nvSpPr>
        <p:spPr>
          <a:xfrm>
            <a:off x="457200" y="1755648"/>
            <a:ext cx="8229600" cy="493776"/>
          </a:xfrm>
          <a:prstGeom prst="roundRect">
            <a:avLst>
              <a:gd name="adj" fmla="val 18519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755648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0:15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175564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Bloco 1 · Configuração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175564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Clínica · serviços · acessos · equipa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80960" y="1856232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18562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75 min</a:t>
            </a:r>
            <a:endParaRPr lang="en-US" sz="1200" dirty="0"/>
          </a:p>
        </p:txBody>
      </p:sp>
      <p:sp>
        <p:nvSpPr>
          <p:cNvPr id="15" name="Linha agenda 3"/>
          <p:cNvSpPr/>
          <p:nvPr/>
        </p:nvSpPr>
        <p:spPr>
          <a:xfrm>
            <a:off x="457200" y="2322576"/>
            <a:ext cx="8229600" cy="493776"/>
          </a:xfrm>
          <a:prstGeom prst="roundRect">
            <a:avLst>
              <a:gd name="adj" fmla="val 1851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322576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1:30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2322576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Pausa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251960" y="2322576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Café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80960" y="2423160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80960" y="24231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15 min</a:t>
            </a:r>
            <a:endParaRPr lang="en-US" sz="1200" dirty="0"/>
          </a:p>
        </p:txBody>
      </p:sp>
      <p:sp>
        <p:nvSpPr>
          <p:cNvPr id="21" name="Linha agenda 4"/>
          <p:cNvSpPr/>
          <p:nvPr/>
        </p:nvSpPr>
        <p:spPr>
          <a:xfrm>
            <a:off x="457200" y="2889504"/>
            <a:ext cx="8229600" cy="493776"/>
          </a:xfrm>
          <a:prstGeom prst="roundRect">
            <a:avLst>
              <a:gd name="adj" fmla="val 18519"/>
            </a:avLst>
          </a:prstGeom>
          <a:solidFill>
            <a:schemeClr val="accent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889504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1:45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2889504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Bloco 2 · O dia-a-dia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251960" y="2889504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Paciente · marcação · consulta · fatura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80960" y="2990088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80960" y="29900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90 min</a:t>
            </a:r>
            <a:endParaRPr lang="en-US" sz="1200" dirty="0"/>
          </a:p>
        </p:txBody>
      </p:sp>
      <p:sp>
        <p:nvSpPr>
          <p:cNvPr id="27" name="Linha agenda 5"/>
          <p:cNvSpPr/>
          <p:nvPr/>
        </p:nvSpPr>
        <p:spPr>
          <a:xfrm>
            <a:off x="457200" y="3456432"/>
            <a:ext cx="8229600" cy="493776"/>
          </a:xfrm>
          <a:prstGeom prst="roundRect">
            <a:avLst>
              <a:gd name="adj" fmla="val 1851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3456432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3:15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3456432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Caso prático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251960" y="3456432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equipa repete o ciclo sozinha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80960" y="3557016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80960" y="35570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30 min</a:t>
            </a:r>
            <a:endParaRPr lang="en-US" sz="1200" dirty="0"/>
          </a:p>
        </p:txBody>
      </p:sp>
      <p:sp>
        <p:nvSpPr>
          <p:cNvPr id="33" name="Linha agenda 6"/>
          <p:cNvSpPr/>
          <p:nvPr/>
        </p:nvSpPr>
        <p:spPr>
          <a:xfrm>
            <a:off x="457200" y="4023360"/>
            <a:ext cx="8229600" cy="493776"/>
          </a:xfrm>
          <a:prstGeom prst="roundRect">
            <a:avLst>
              <a:gd name="adj" fmla="val 18519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" y="4023360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3:45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417320" y="402336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Perguntas e fecho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251960" y="4023360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Próximos passos · Sessão 2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80960" y="4123944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680960" y="412394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15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Quem participa em quê</a:t>
            </a:r>
            <a:endParaRPr lang="en-US" sz="3400" dirty="0"/>
          </a:p>
        </p:txBody>
      </p:sp>
      <p:graphicFrame>
        <p:nvGraphicFramePr>
          <p:cNvPr id="7" name="Tabela participaçã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08760"/>
                <a:gridCol w="1508760"/>
                <a:gridCol w="1508760"/>
                <a:gridCol w="1508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 1 · passos 1 a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 1 · palavra-passe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 2 · ciclo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prático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1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1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1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19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1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pacientes, marcações, fatura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1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19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Médico/a e Enfermagem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1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e registos clínicos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1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5"/>
                    </a:solidFill>
                  </a:tcPr>
                </a:tc>
              </a:tr>
            </a:tbl>
          </a:graphicData>
        </a:graphic>
      </p:graphicFrame>
      <p:sp>
        <p:nvSpPr>
          <p:cNvPr id="4" name="Nota grupo pequeno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5" name="Ícone grupo"/>
          <p:cNvSpPr/>
          <p:nvPr/>
        </p:nvSpPr>
        <p:spPr>
          <a:xfrm>
            <a:off x="594360" y="3977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Ícone gru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148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39319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Grupo pequeno (menos de 6 pessoas)? Todos fazem tudo: configurar ensina a perceber o resto.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Bloco 1 · Configuração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base de tudo o resto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75 minutos</a:t>
            </a:r>
            <a:endParaRPr lang="en-US" sz="1800" dirty="0"/>
          </a:p>
        </p:txBody>
      </p:sp>
      <p:sp>
        <p:nvSpPr>
          <p:cNvPr id="4" name="Decor circle"/>
          <p:cNvSpPr/>
          <p:nvPr/>
        </p:nvSpPr>
        <p:spPr>
          <a:xfrm>
            <a:off x="6217920" y="1188720"/>
            <a:ext cx="2468880" cy="24688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Ícone de engrenag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9659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ordem da configuração</a:t>
            </a:r>
            <a:endParaRPr lang="en-US" sz="3400" dirty="0"/>
          </a:p>
        </p:txBody>
      </p:sp>
      <p:sp>
        <p:nvSpPr>
          <p:cNvPr id="3" name="Passo 1"/>
          <p:cNvSpPr/>
          <p:nvPr/>
        </p:nvSpPr>
        <p:spPr>
          <a:xfrm>
            <a:off x="457200" y="123444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4" name="Número passo 1"/>
          <p:cNvSpPr/>
          <p:nvPr/>
        </p:nvSpPr>
        <p:spPr>
          <a:xfrm>
            <a:off x="594360" y="131673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34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Dados da clínica e horário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344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Configurações → Clínica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35240" y="1371600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35240" y="1371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 min</a:t>
            </a:r>
            <a:endParaRPr lang="en-US" sz="1200" dirty="0"/>
          </a:p>
        </p:txBody>
      </p:sp>
      <p:sp>
        <p:nvSpPr>
          <p:cNvPr id="10" name="Passo 2"/>
          <p:cNvSpPr/>
          <p:nvPr/>
        </p:nvSpPr>
        <p:spPr>
          <a:xfrm>
            <a:off x="457200" y="187452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1" name="Número passo 2"/>
          <p:cNvSpPr/>
          <p:nvPr/>
        </p:nvSpPr>
        <p:spPr>
          <a:xfrm>
            <a:off x="594360" y="19568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8745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Serviços, preços e listas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8745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Parametrizações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35240" y="2011680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35240" y="20116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 min</a:t>
            </a:r>
            <a:endParaRPr lang="en-US" sz="1200" dirty="0"/>
          </a:p>
        </p:txBody>
      </p:sp>
      <p:sp>
        <p:nvSpPr>
          <p:cNvPr id="17" name="Passo 3"/>
          <p:cNvSpPr/>
          <p:nvPr/>
        </p:nvSpPr>
        <p:spPr>
          <a:xfrm>
            <a:off x="457200" y="251460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8" name="Número passo 3"/>
          <p:cNvSpPr/>
          <p:nvPr/>
        </p:nvSpPr>
        <p:spPr>
          <a:xfrm>
            <a:off x="594360" y="259689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5146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Perfis e utilizadores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5146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Gestão de Acesso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35240" y="2651760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35240" y="26517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 min</a:t>
            </a:r>
            <a:endParaRPr lang="en-US" sz="1200" dirty="0"/>
          </a:p>
        </p:txBody>
      </p:sp>
      <p:sp>
        <p:nvSpPr>
          <p:cNvPr id="24" name="Passo 4"/>
          <p:cNvSpPr/>
          <p:nvPr/>
        </p:nvSpPr>
        <p:spPr>
          <a:xfrm>
            <a:off x="457200" y="315468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25" name="Número passo 4"/>
          <p:cNvSpPr/>
          <p:nvPr/>
        </p:nvSpPr>
        <p:spPr>
          <a:xfrm>
            <a:off x="594360" y="323697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1546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Disponibilidade da equipa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31546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Equipa &amp; Turnos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35240" y="3291840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35240" y="32918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15 min</a:t>
            </a:r>
            <a:endParaRPr lang="en-US" sz="1200" dirty="0"/>
          </a:p>
        </p:txBody>
      </p:sp>
      <p:sp>
        <p:nvSpPr>
          <p:cNvPr id="31" name="Passo 5"/>
          <p:cNvSpPr/>
          <p:nvPr/>
        </p:nvSpPr>
        <p:spPr>
          <a:xfrm>
            <a:off x="457200" y="379476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32" name="Número passo 5"/>
          <p:cNvSpPr/>
          <p:nvPr/>
        </p:nvSpPr>
        <p:spPr>
          <a:xfrm>
            <a:off x="594360" y="387705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94360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188720" y="37947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minha palavra-passe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37947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Configurações → Segurança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635240" y="3931920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635240" y="39319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 min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4622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Passos 1 a 4: a Administração faz, os outros assistem · Passo 5: todos fazem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Clínica e Parametrizações</a:t>
            </a:r>
            <a:endParaRPr lang="en-US" sz="3400" dirty="0"/>
          </a:p>
        </p:txBody>
      </p:sp>
      <p:sp>
        <p:nvSpPr>
          <p:cNvPr id="3" name="Card Configurações → Clínica"/>
          <p:cNvSpPr/>
          <p:nvPr/>
        </p:nvSpPr>
        <p:spPr>
          <a:xfrm>
            <a:off x="457200" y="123444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Ícone Configurações → Clínica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Ícone Configurações → Clín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Configurações → Clínica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Nome, NIF, contactos e morada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Horário de funcionamento por dia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Marcações fora do horário são recusadas</a:t>
            </a:r>
            <a:endParaRPr lang="en-US" sz="1400" dirty="0"/>
          </a:p>
        </p:txBody>
      </p:sp>
      <p:sp>
        <p:nvSpPr>
          <p:cNvPr id="8" name="Aviso 1"/>
          <p:cNvSpPr/>
          <p:nvPr/>
        </p:nvSpPr>
        <p:spPr>
          <a:xfrm>
            <a:off x="640080" y="3520440"/>
            <a:ext cx="365760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35204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Atenção ao NIF: identifica a clínica em todos os documentos fiscais.</a:t>
            </a:r>
            <a:endParaRPr lang="en-US" sz="1400" dirty="0"/>
          </a:p>
        </p:txBody>
      </p:sp>
      <p:sp>
        <p:nvSpPr>
          <p:cNvPr id="10" name="Card Parametrizações"/>
          <p:cNvSpPr/>
          <p:nvPr/>
        </p:nvSpPr>
        <p:spPr>
          <a:xfrm>
            <a:off x="4663440" y="123444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1" name="Ícone Parametrizações"/>
          <p:cNvSpPr/>
          <p:nvPr/>
        </p:nvSpPr>
        <p:spPr>
          <a:xfrm>
            <a:off x="489204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Ícone Parametrizaçõ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1417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Parametrizações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210312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Serviços: nome, duração e preço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Funções e especialidades da equipa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Tipos de consulta, plano e seguradora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Etiquetas de pacientes (VIP, Crónico…)</a:t>
            </a:r>
            <a:endParaRPr lang="en-US" sz="1400" dirty="0"/>
          </a:p>
        </p:txBody>
      </p:sp>
      <p:sp>
        <p:nvSpPr>
          <p:cNvPr id="15" name="Aviso 2"/>
          <p:cNvSpPr/>
          <p:nvPr/>
        </p:nvSpPr>
        <p:spPr>
          <a:xfrm>
            <a:off x="4846320" y="3520440"/>
            <a:ext cx="365760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983480" y="35204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Serviços e preços alimentam marcações e faturas.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Acesso: perfis e utilizadores</a:t>
            </a:r>
            <a:endParaRPr lang="en-US" sz="3400" dirty="0"/>
          </a:p>
        </p:txBody>
      </p:sp>
      <p:sp>
        <p:nvSpPr>
          <p:cNvPr id="3" name="Perfil Administrador/a"/>
          <p:cNvSpPr/>
          <p:nvPr/>
        </p:nvSpPr>
        <p:spPr>
          <a:xfrm>
            <a:off x="457200" y="1234440"/>
            <a:ext cx="4297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Administrador/a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12344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Tudo, incluindo configuração e acessos</a:t>
            </a:r>
            <a:endParaRPr lang="en-US" sz="1200" dirty="0"/>
          </a:p>
        </p:txBody>
      </p:sp>
      <p:sp>
        <p:nvSpPr>
          <p:cNvPr id="6" name="Perfil Recepcionista"/>
          <p:cNvSpPr/>
          <p:nvPr/>
        </p:nvSpPr>
        <p:spPr>
          <a:xfrm>
            <a:off x="457200" y="1874520"/>
            <a:ext cx="4297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Recepcionista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8745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Marcações, pacientes, financeiro, WhatsApp</a:t>
            </a:r>
            <a:endParaRPr lang="en-US" sz="1200" dirty="0"/>
          </a:p>
        </p:txBody>
      </p:sp>
      <p:sp>
        <p:nvSpPr>
          <p:cNvPr id="9" name="Perfil Médico/a"/>
          <p:cNvSpPr/>
          <p:nvPr/>
        </p:nvSpPr>
        <p:spPr>
          <a:xfrm>
            <a:off x="457200" y="2514600"/>
            <a:ext cx="4297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5146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Médico/a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25146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Marcações, pacientes, registos clínicos</a:t>
            </a:r>
            <a:endParaRPr lang="en-US" sz="1200" dirty="0"/>
          </a:p>
        </p:txBody>
      </p:sp>
      <p:sp>
        <p:nvSpPr>
          <p:cNvPr id="12" name="Perfil Enfermeiro/a"/>
          <p:cNvSpPr/>
          <p:nvPr/>
        </p:nvSpPr>
        <p:spPr>
          <a:xfrm>
            <a:off x="457200" y="3154680"/>
            <a:ext cx="4297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154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Enfermeiro/a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315468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Marcações, pacientes, registos clínicos</a:t>
            </a:r>
            <a:endParaRPr lang="en-US" sz="1200" dirty="0"/>
          </a:p>
        </p:txBody>
      </p:sp>
      <p:sp>
        <p:nvSpPr>
          <p:cNvPr id="15" name="Perfil Técnico/a de Laboratório"/>
          <p:cNvSpPr/>
          <p:nvPr/>
        </p:nvSpPr>
        <p:spPr>
          <a:xfrm>
            <a:off x="457200" y="3794760"/>
            <a:ext cx="4297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7947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Técnico/a de Laboratório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37947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Exames (ainda não disponível)</a:t>
            </a:r>
            <a:endParaRPr lang="en-US" sz="1200" dirty="0"/>
          </a:p>
        </p:txBody>
      </p:sp>
      <p:sp>
        <p:nvSpPr>
          <p:cNvPr id="18" name="Card criar utilizador"/>
          <p:cNvSpPr/>
          <p:nvPr/>
        </p:nvSpPr>
        <p:spPr>
          <a:xfrm>
            <a:off x="4983480" y="1234440"/>
            <a:ext cx="3703320" cy="3127248"/>
          </a:xfrm>
          <a:prstGeom prst="roundRect">
            <a:avLst>
              <a:gd name="adj" fmla="val 2924"/>
            </a:avLst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1208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Criar um utilizador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1874520"/>
            <a:ext cx="3291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bg1"/>
                </a:solidFill>
              </a:rPr>
              <a:t>Adicionar Utilizador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bg1"/>
                </a:solidFill>
              </a:rPr>
              <a:t>Escolher o perfil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bg1"/>
                </a:solidFill>
              </a:rPr>
              <a:t>Definir a palavra-passe (botão Gerar: 10+ caracteres, maiúscula e número)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bg1"/>
                </a:solidFill>
              </a:rPr>
              <a:t>Entregar à pessoa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703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Alterar senha termina as sessões abertas dessa pessoa.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Equipa e disponibilidade</a:t>
            </a:r>
            <a:endParaRPr lang="en-US" sz="3400" dirty="0"/>
          </a:p>
        </p:txBody>
      </p:sp>
      <p:sp>
        <p:nvSpPr>
          <p:cNvPr id="3" name="Card Toda a Equipa"/>
          <p:cNvSpPr/>
          <p:nvPr/>
        </p:nvSpPr>
        <p:spPr>
          <a:xfrm>
            <a:off x="457200" y="123444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Ícone Toda a Equipa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Ícone Toda a Equip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5773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194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Toda a Equipa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34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Lista com contactos e estado: em serviço, fora, de férias</a:t>
            </a:r>
            <a:endParaRPr lang="en-US" sz="1400" dirty="0"/>
          </a:p>
        </p:txBody>
      </p:sp>
      <p:sp>
        <p:nvSpPr>
          <p:cNvPr id="8" name="Card Calendário de Disponibilidade"/>
          <p:cNvSpPr/>
          <p:nvPr/>
        </p:nvSpPr>
        <p:spPr>
          <a:xfrm>
            <a:off x="3291840" y="123444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9" name="Ícone Calendário de Disponibilidade"/>
          <p:cNvSpPr/>
          <p:nvPr/>
        </p:nvSpPr>
        <p:spPr>
          <a:xfrm>
            <a:off x="356616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Ícone Calendário de Disponibilida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5773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194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Calendário de Disponibilidade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834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modelo semanal de cada profissional</a:t>
            </a:r>
            <a:endParaRPr lang="en-US" sz="1400" dirty="0"/>
          </a:p>
        </p:txBody>
      </p:sp>
      <p:sp>
        <p:nvSpPr>
          <p:cNvPr id="13" name="Card Turnos"/>
          <p:cNvSpPr/>
          <p:nvPr/>
        </p:nvSpPr>
        <p:spPr>
          <a:xfrm>
            <a:off x="6126480" y="123444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4" name="Ícone Turnos"/>
          <p:cNvSpPr/>
          <p:nvPr/>
        </p:nvSpPr>
        <p:spPr>
          <a:xfrm>
            <a:off x="640080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Ícone Turn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5773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194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Turnos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834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Exceção num dia: substitui o modelo semanal. Arrastar para criar</a:t>
            </a:r>
            <a:endParaRPr lang="en-US" sz="1400" dirty="0"/>
          </a:p>
        </p:txBody>
      </p:sp>
      <p:sp>
        <p:nvSpPr>
          <p:cNvPr id="18" name="Teste ao vivo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</p:sp>
      <p:sp>
        <p:nvSpPr>
          <p:cNvPr id="19" name="Ícone ideia"/>
          <p:cNvSpPr/>
          <p:nvPr/>
        </p:nvSpPr>
        <p:spPr>
          <a:xfrm>
            <a:off x="594360" y="3977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3" descr="Ícone idei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148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9319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Teste ao vivo: mudar uma disponibilidade e ver o horário aparecer ao marcar.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Bloco 2 · O dia-a-dia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Usar o que foi configurado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90 minutos</a:t>
            </a:r>
            <a:endParaRPr lang="en-US" sz="1800" dirty="0"/>
          </a:p>
        </p:txBody>
      </p:sp>
      <p:sp>
        <p:nvSpPr>
          <p:cNvPr id="4" name="Decor circle"/>
          <p:cNvSpPr/>
          <p:nvPr/>
        </p:nvSpPr>
        <p:spPr>
          <a:xfrm>
            <a:off x="6217920" y="1188720"/>
            <a:ext cx="2468880" cy="24688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Ícone de estetoscóp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9659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 ciclo completo</a:t>
            </a:r>
            <a:endParaRPr lang="en-US" sz="3400" dirty="0"/>
          </a:p>
        </p:txBody>
      </p:sp>
      <p:sp>
        <p:nvSpPr>
          <p:cNvPr id="3" name="Card ciclo Paciente"/>
          <p:cNvSpPr/>
          <p:nvPr/>
        </p:nvSpPr>
        <p:spPr>
          <a:xfrm>
            <a:off x="457200" y="1234440"/>
            <a:ext cx="1481328" cy="320040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4" name="Ícone Paciente"/>
          <p:cNvSpPr/>
          <p:nvPr/>
        </p:nvSpPr>
        <p:spPr>
          <a:xfrm>
            <a:off x="594360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Ícone Pac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148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Paciente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48716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Pacientes CRM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9443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Recepção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2461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Procurar, registar, etiquetar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" y="3977640"/>
            <a:ext cx="82296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39776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 min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56816" y="2697480"/>
            <a:ext cx="173736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3" name="Card ciclo Marcação"/>
          <p:cNvSpPr/>
          <p:nvPr/>
        </p:nvSpPr>
        <p:spPr>
          <a:xfrm>
            <a:off x="2144268" y="1234440"/>
            <a:ext cx="1481328" cy="320040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14" name="Ícone Marcação"/>
          <p:cNvSpPr/>
          <p:nvPr/>
        </p:nvSpPr>
        <p:spPr>
          <a:xfrm>
            <a:off x="2281428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1" descr="Ícone Marc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15316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281428" y="2148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Marcação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2281428" y="248716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Agendamentos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81428" y="29443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Recepção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2281428" y="32461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Horários livres, calendário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281428" y="3977640"/>
            <a:ext cx="82296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281428" y="39776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25 min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643884" y="2697480"/>
            <a:ext cx="173736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3" name="Card ciclo Consulta"/>
          <p:cNvSpPr/>
          <p:nvPr/>
        </p:nvSpPr>
        <p:spPr>
          <a:xfrm>
            <a:off x="3831336" y="1234440"/>
            <a:ext cx="1481328" cy="320040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24" name="Ícone Consulta"/>
          <p:cNvSpPr/>
          <p:nvPr/>
        </p:nvSpPr>
        <p:spPr>
          <a:xfrm>
            <a:off x="3968496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2" descr="Ícone Consul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6" y="153162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3968496" y="2148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Consulta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3968496" y="248716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Registos Clínicos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3968496" y="29443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Médico/a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3968496" y="32461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Check-in, notas, concluir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3968496" y="3977640"/>
            <a:ext cx="82296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3968496" y="39776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 min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5330952" y="2697480"/>
            <a:ext cx="173736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3" name="Card ciclo Fatura"/>
          <p:cNvSpPr/>
          <p:nvPr/>
        </p:nvSpPr>
        <p:spPr>
          <a:xfrm>
            <a:off x="5518404" y="1234440"/>
            <a:ext cx="1481328" cy="320040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34" name="Ícone Fatura"/>
          <p:cNvSpPr/>
          <p:nvPr/>
        </p:nvSpPr>
        <p:spPr>
          <a:xfrm>
            <a:off x="5655564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mage 3" descr="Ícone Fatu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1531620"/>
            <a:ext cx="320040" cy="32004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5655564" y="2148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Fatura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5655564" y="248716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Financeiro · Faturas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5655564" y="29443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Recepção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5655564" y="32461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Gerada ao concluir a consulta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5655564" y="3977640"/>
            <a:ext cx="82296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5655564" y="39776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15 min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7018020" y="2697480"/>
            <a:ext cx="173736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43" name="Card ciclo Pagamento"/>
          <p:cNvSpPr/>
          <p:nvPr/>
        </p:nvSpPr>
        <p:spPr>
          <a:xfrm>
            <a:off x="7205472" y="1234440"/>
            <a:ext cx="1481328" cy="320040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44" name="Ícone Pagamento"/>
          <p:cNvSpPr/>
          <p:nvPr/>
        </p:nvSpPr>
        <p:spPr>
          <a:xfrm>
            <a:off x="7342632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5" name="Image 4" descr="Ícone Pagamen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652" y="1531620"/>
            <a:ext cx="320040" cy="320040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7342632" y="2148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Pagamento</a:t>
            </a:r>
            <a:endParaRPr lang="en-US" sz="1600" dirty="0"/>
          </a:p>
        </p:txBody>
      </p:sp>
      <p:sp>
        <p:nvSpPr>
          <p:cNvPr id="47" name="Text 40"/>
          <p:cNvSpPr txBox="1"/>
          <p:nvPr/>
        </p:nvSpPr>
        <p:spPr>
          <a:xfrm>
            <a:off x="7342632" y="248716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Financeiro · Faturas</a:t>
            </a:r>
            <a:endParaRPr lang="en-US" sz="1200" dirty="0"/>
          </a:p>
        </p:txBody>
      </p:sp>
      <p:sp>
        <p:nvSpPr>
          <p:cNvPr id="48" name="Text 41"/>
          <p:cNvSpPr txBox="1"/>
          <p:nvPr/>
        </p:nvSpPr>
        <p:spPr>
          <a:xfrm>
            <a:off x="7342632" y="29443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Recepção</a:t>
            </a:r>
            <a:endParaRPr lang="en-US" sz="1400" dirty="0"/>
          </a:p>
        </p:txBody>
      </p:sp>
      <p:sp>
        <p:nvSpPr>
          <p:cNvPr id="49" name="Text 42"/>
          <p:cNvSpPr txBox="1"/>
          <p:nvPr/>
        </p:nvSpPr>
        <p:spPr>
          <a:xfrm>
            <a:off x="7342632" y="32461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Registar, saldo em aberto</a:t>
            </a:r>
            <a:endParaRPr 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7342632" y="3977640"/>
            <a:ext cx="82296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7342632" y="39776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Caso prático final</a:t>
            </a:r>
            <a:endParaRPr lang="en-US" sz="3400" dirty="0"/>
          </a:p>
        </p:txBody>
      </p:sp>
      <p:sp>
        <p:nvSpPr>
          <p:cNvPr id="3" name="Cenário"/>
          <p:cNvSpPr/>
          <p:nvPr/>
        </p:nvSpPr>
        <p:spPr>
          <a:xfrm>
            <a:off x="457200" y="1234440"/>
            <a:ext cx="3017520" cy="3200400"/>
          </a:xfrm>
          <a:prstGeom prst="roundRect">
            <a:avLst>
              <a:gd name="adj" fmla="val 3030"/>
            </a:avLst>
          </a:prstGeom>
          <a:solidFill>
            <a:schemeClr val="tx1"/>
          </a:solidFill>
          <a:ln/>
        </p:spPr>
      </p:sp>
      <p:sp>
        <p:nvSpPr>
          <p:cNvPr id="4" name="Ícone nova colega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Ícone nova coleg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Chega uma nova psicóloga ao CAP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004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Trabalhem em pares, 30 minutos. Quem acabar primeiro ajuda o par ao lado.</a:t>
            </a:r>
            <a:endParaRPr lang="en-US" sz="1400" dirty="0"/>
          </a:p>
        </p:txBody>
      </p:sp>
      <p:sp>
        <p:nvSpPr>
          <p:cNvPr id="8" name="Tarefa 1"/>
          <p:cNvSpPr/>
          <p:nvPr/>
        </p:nvSpPr>
        <p:spPr>
          <a:xfrm>
            <a:off x="3703320" y="123444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9" name="Número tarefa 1"/>
          <p:cNvSpPr/>
          <p:nvPr/>
        </p:nvSpPr>
        <p:spPr>
          <a:xfrm>
            <a:off x="3840480" y="148132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84048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1234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Criar o utilizador com o perfil certo</a:t>
            </a:r>
            <a:endParaRPr lang="en-US" sz="1400" dirty="0"/>
          </a:p>
        </p:txBody>
      </p:sp>
      <p:sp>
        <p:nvSpPr>
          <p:cNvPr id="12" name="Tarefa 2"/>
          <p:cNvSpPr/>
          <p:nvPr/>
        </p:nvSpPr>
        <p:spPr>
          <a:xfrm>
            <a:off x="6217920" y="123444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3" name="Número tarefa 2"/>
          <p:cNvSpPr/>
          <p:nvPr/>
        </p:nvSpPr>
        <p:spPr>
          <a:xfrm>
            <a:off x="6355080" y="148132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5508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1234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Definir a disponibilidade semanal</a:t>
            </a:r>
            <a:endParaRPr lang="en-US" sz="1400" dirty="0"/>
          </a:p>
        </p:txBody>
      </p:sp>
      <p:sp>
        <p:nvSpPr>
          <p:cNvPr id="16" name="Tarefa 3"/>
          <p:cNvSpPr/>
          <p:nvPr/>
        </p:nvSpPr>
        <p:spPr>
          <a:xfrm>
            <a:off x="3703320" y="233172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7" name="Número tarefa 3"/>
          <p:cNvSpPr/>
          <p:nvPr/>
        </p:nvSpPr>
        <p:spPr>
          <a:xfrm>
            <a:off x="3840480" y="25786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84048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389120" y="23317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Registar um paciente novo</a:t>
            </a:r>
            <a:endParaRPr lang="en-US" sz="1400" dirty="0"/>
          </a:p>
        </p:txBody>
      </p:sp>
      <p:sp>
        <p:nvSpPr>
          <p:cNvPr id="20" name="Tarefa 4"/>
          <p:cNvSpPr/>
          <p:nvPr/>
        </p:nvSpPr>
        <p:spPr>
          <a:xfrm>
            <a:off x="6217920" y="233172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1" name="Número tarefa 4"/>
          <p:cNvSpPr/>
          <p:nvPr/>
        </p:nvSpPr>
        <p:spPr>
          <a:xfrm>
            <a:off x="6355080" y="25786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35508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903720" y="23317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Marcar no primeiro horário livre</a:t>
            </a:r>
            <a:endParaRPr lang="en-US" sz="1400" dirty="0"/>
          </a:p>
        </p:txBody>
      </p:sp>
      <p:sp>
        <p:nvSpPr>
          <p:cNvPr id="24" name="Tarefa 5"/>
          <p:cNvSpPr/>
          <p:nvPr/>
        </p:nvSpPr>
        <p:spPr>
          <a:xfrm>
            <a:off x="3703320" y="342900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5" name="Número tarefa 5"/>
          <p:cNvSpPr/>
          <p:nvPr/>
        </p:nvSpPr>
        <p:spPr>
          <a:xfrm>
            <a:off x="3840480" y="36758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840480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389120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Concluir a consulta</a:t>
            </a:r>
            <a:endParaRPr lang="en-US" sz="1400" dirty="0"/>
          </a:p>
        </p:txBody>
      </p:sp>
      <p:sp>
        <p:nvSpPr>
          <p:cNvPr id="28" name="Tarefa 6"/>
          <p:cNvSpPr/>
          <p:nvPr/>
        </p:nvSpPr>
        <p:spPr>
          <a:xfrm>
            <a:off x="6217920" y="342900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9" name="Número tarefa 6"/>
          <p:cNvSpPr/>
          <p:nvPr/>
        </p:nvSpPr>
        <p:spPr>
          <a:xfrm>
            <a:off x="6355080" y="36758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355080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903720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Verificar a fatura e registar o pagamento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Fica para a Sessão 2</a:t>
            </a:r>
            <a:endParaRPr lang="en-US" sz="3400" dirty="0"/>
          </a:p>
        </p:txBody>
      </p:sp>
      <p:sp>
        <p:nvSpPr>
          <p:cNvPr id="3" name="Sessão 2 · Planos de Saúde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/>
        </p:spPr>
      </p:sp>
      <p:sp>
        <p:nvSpPr>
          <p:cNvPr id="4" name="Ícone Planos de Saúde"/>
          <p:cNvSpPr/>
          <p:nvPr/>
        </p:nvSpPr>
        <p:spPr>
          <a:xfrm>
            <a:off x="548640" y="1243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Ícone Planos de Saú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35024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1887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Planos de Saúde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118872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Precisa das seguradoras e empresas definidas hoje</a:t>
            </a:r>
            <a:endParaRPr lang="en-US" sz="1300" dirty="0"/>
          </a:p>
        </p:txBody>
      </p:sp>
      <p:sp>
        <p:nvSpPr>
          <p:cNvPr id="8" name="Sessão 2 · Financeiro completo"/>
          <p:cNvSpPr/>
          <p:nvPr/>
        </p:nvSpPr>
        <p:spPr>
          <a:xfrm>
            <a:off x="457200" y="173736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/>
        </p:spPr>
      </p:sp>
      <p:sp>
        <p:nvSpPr>
          <p:cNvPr id="9" name="Ícone Financeiro completo"/>
          <p:cNvSpPr/>
          <p:nvPr/>
        </p:nvSpPr>
        <p:spPr>
          <a:xfrm>
            <a:off x="548640" y="17922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Ícone Financeiro comple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8366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51560" y="17373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Financeiro completo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840480" y="17373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Despesas, entradas, resumo e saldos em aberto</a:t>
            </a:r>
            <a:endParaRPr lang="en-US" sz="1300" dirty="0"/>
          </a:p>
        </p:txBody>
      </p:sp>
      <p:sp>
        <p:nvSpPr>
          <p:cNvPr id="13" name="Sessão 2 · Analytics"/>
          <p:cNvSpPr/>
          <p:nvPr/>
        </p:nvSpPr>
        <p:spPr>
          <a:xfrm>
            <a:off x="457200" y="228600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/>
        </p:spPr>
      </p:sp>
      <p:sp>
        <p:nvSpPr>
          <p:cNvPr id="14" name="Ícone Analytics"/>
          <p:cNvSpPr/>
          <p:nvPr/>
        </p:nvSpPr>
        <p:spPr>
          <a:xfrm>
            <a:off x="548640" y="23408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Ícone Analytic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32304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51560" y="22860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Analytics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840480" y="22860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Faz mais sentido com dados de uso real</a:t>
            </a:r>
            <a:endParaRPr lang="en-US" sz="1300" dirty="0"/>
          </a:p>
        </p:txBody>
      </p:sp>
      <p:sp>
        <p:nvSpPr>
          <p:cNvPr id="18" name="Sessão 2 · WhatsApp Hub"/>
          <p:cNvSpPr/>
          <p:nvPr/>
        </p:nvSpPr>
        <p:spPr>
          <a:xfrm>
            <a:off x="457200" y="283464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/>
        </p:spPr>
      </p:sp>
      <p:sp>
        <p:nvSpPr>
          <p:cNvPr id="19" name="Ícone WhatsApp Hub"/>
          <p:cNvSpPr/>
          <p:nvPr/>
        </p:nvSpPr>
        <p:spPr>
          <a:xfrm>
            <a:off x="548640" y="288950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Ícone WhatsApp Hu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80944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51560" y="2834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WhatsApp Hub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3840480" y="28346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Depende da configuração da Meta e de um endereço público</a:t>
            </a:r>
            <a:endParaRPr lang="en-US" sz="1300" dirty="0"/>
          </a:p>
        </p:txBody>
      </p:sp>
      <p:sp>
        <p:nvSpPr>
          <p:cNvPr id="23" name="Sessão 2 · Fatura eletrónica (e-Fatura)"/>
          <p:cNvSpPr/>
          <p:nvPr/>
        </p:nvSpPr>
        <p:spPr>
          <a:xfrm>
            <a:off x="457200" y="338328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/>
        </p:spPr>
      </p:sp>
      <p:sp>
        <p:nvSpPr>
          <p:cNvPr id="24" name="Ícone Fatura eletrónica (e-Fatura)"/>
          <p:cNvSpPr/>
          <p:nvPr/>
        </p:nvSpPr>
        <p:spPr>
          <a:xfrm>
            <a:off x="548640" y="34381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Ícone Fatura eletrónica (e-Fatura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29584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33832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Fatura eletrónica (e-Fatura)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840480" y="3383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Depende das credenciais e do certificado da DNRE</a:t>
            </a:r>
            <a:endParaRPr lang="en-US" sz="1300" dirty="0"/>
          </a:p>
        </p:txBody>
      </p:sp>
      <p:sp>
        <p:nvSpPr>
          <p:cNvPr id="28" name="Ainda não disponível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685800" y="4023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Ainda não disponível: Exames e Resultados · Visitas Domiciliárias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Perguntas?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Sessão 2: data a combinar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Exercício: repetir o caso prático com dados de teste</a:t>
            </a:r>
            <a:endParaRPr lang="en-US" sz="1800" dirty="0"/>
          </a:p>
        </p:txBody>
      </p:sp>
      <p:sp>
        <p:nvSpPr>
          <p:cNvPr id="4" name="Decor circle large"/>
          <p:cNvSpPr/>
          <p:nvPr/>
        </p:nvSpPr>
        <p:spPr>
          <a:xfrm>
            <a:off x="5852160" y="822960"/>
            <a:ext cx="2834640" cy="2834640"/>
          </a:xfrm>
          <a:prstGeom prst="ellipse">
            <a:avLst/>
          </a:prstGeom>
          <a:solidFill>
            <a:schemeClr val="accent1">
              <a:alpha val="80000"/>
            </a:schemeClr>
          </a:solidFill>
          <a:ln/>
        </p:spPr>
      </p:sp>
      <p:pic>
        <p:nvPicPr>
          <p:cNvPr id="5" name="Image 0" descr="Ícone de apo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7830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Antes da sessão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0" y="502920"/>
            <a:ext cx="274320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Anexo · só para o formador</a:t>
            </a:r>
            <a:endParaRPr lang="en-US" sz="1200" dirty="0"/>
          </a:p>
        </p:txBody>
      </p:sp>
      <p:sp>
        <p:nvSpPr>
          <p:cNvPr id="5" name="Card Pedir ao CAP"/>
          <p:cNvSpPr/>
          <p:nvPr/>
        </p:nvSpPr>
        <p:spPr>
          <a:xfrm>
            <a:off x="457200" y="123444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6" name="Ícone Pedir ao CAP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Ícone Pedir ao C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17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Pedir ao CAP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4884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NIF e dados oficiais da clínica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Horário de funcionamento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Serviços com duração e preço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Colaboradores: nome, email, função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Disponibilidade semanal de cada um</a:t>
            </a:r>
            <a:endParaRPr lang="en-US" sz="1400" dirty="0"/>
          </a:p>
        </p:txBody>
      </p:sp>
      <p:sp>
        <p:nvSpPr>
          <p:cNvPr id="10" name="Card Preparar do nosso lado"/>
          <p:cNvSpPr/>
          <p:nvPr/>
        </p:nvSpPr>
        <p:spPr>
          <a:xfrm>
            <a:off x="4663440" y="123444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1" name="Ícone Preparar do nosso lado"/>
          <p:cNvSpPr/>
          <p:nvPr/>
        </p:nvSpPr>
        <p:spPr>
          <a:xfrm>
            <a:off x="489204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Ícone Preparar do nosso l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1417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Preparar do nosso lado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214884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Ambiente no ar, com HTTPS, testado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Contas reais por perfil (sem bypass)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Dados de teste, nunca de pacientes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Um computador por pessoa + projetor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Plano B: capturas de ecrã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 360 Formacao">
  <a:themeElements>
    <a:clrScheme name="CAP 360 Formacao">
      <a:dk1>
        <a:srgbClr val="1A1A2E"/>
      </a:dk1>
      <a:lt1>
        <a:srgbClr val="FFFFFF"/>
      </a:lt1>
      <a:dk2>
        <a:srgbClr val="55556F"/>
      </a:dk2>
      <a:lt2>
        <a:srgbClr val="EAF5F5"/>
      </a:lt2>
      <a:accent1>
        <a:srgbClr val="0F9191"/>
      </a:accent1>
      <a:accent2>
        <a:srgbClr val="F2A93B"/>
      </a:accent2>
      <a:accent3>
        <a:srgbClr val="0B6E6E"/>
      </a:accent3>
      <a:accent4>
        <a:srgbClr val="D1D1E0"/>
      </a:accent4>
      <a:accent5>
        <a:srgbClr val="8FDCDC"/>
      </a:accent5>
      <a:accent6>
        <a:srgbClr val="D9534F"/>
      </a:accent6>
      <a:hlink>
        <a:srgbClr val="0F9191"/>
      </a:hlink>
      <a:folHlink>
        <a:srgbClr val="55556F"/>
      </a:folHlink>
    </a:clrScheme>
    <a:fontScheme name="CAP 360 Formaca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Formação CAP 360 — Sessão 1</dc:title>
  <dc:subject>PptxGenJS Presentation</dc:subject>
  <dc:creator>CAP 360</dc:creator>
  <cp:lastModifiedBy>CAP 360</cp:lastModifiedBy>
  <cp:revision>1</cp:revision>
  <dcterms:created xsi:type="dcterms:W3CDTF">2026-10-03T10:08:05Z</dcterms:created>
  <dcterms:modified xsi:type="dcterms:W3CDTF">2026-10-03T10:08:05Z</dcterms:modified>
</cp:coreProperties>
</file>